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Plataforma Distribuída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C107"/>
                </a:solidFill>
                <a:latin typeface="Calibri"/>
              </a:rPr>
              <a:t>para Acompanhamento de Manutenção Veicular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Arquitetura orientada a eventos com RabbitMQ • Edge +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XRSC09 — Sistemas Distribuídos  •  Projeto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Grupo XX — Junho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Membro 1  •  Membro 2  •  Membro 3  •  Membro 4  •  Membro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Transparência na manutenção veicular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Cenário sorteado: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6858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A"/>
                </a:solidFill>
                <a:latin typeface="Calibri"/>
              </a:rPr>
              <a:t>Empresa de manutenção de veículos quer permitir que o cliente acompanhe o serviço em tempo real, com etapas como relato, diagnóstico, identificação da causa, execução do reparo e substituição rastreável de peças.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3840480"/>
            <a:ext cx="12191695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Dor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Cliente não vê o que foi feito → desconfiança e reclamações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Sem evidência verificável de cada etapa do serviço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Peças substituídas sem rastreio claro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Comunicação informal e fragmentada entre cliente e oficina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Por que uma solução distribuída?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Limites do monolito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Escala desigual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2A"/>
                </a:solidFill>
                <a:latin typeface="Calibri"/>
              </a:rPr>
              <a:t>Processar vídeo escala diferente de servir REST. Tudo no mesmo processo amarra as cargas.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6304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6459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Vários destinatários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19456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2A"/>
                </a:solidFill>
                <a:latin typeface="Calibri"/>
              </a:rPr>
              <a:t>Mudar etapa gera notificação, auditoria, dashboard e e-mail — fan-out natural.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Resiliência geográfica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2A"/>
                </a:solidFill>
                <a:latin typeface="Calibri"/>
              </a:rPr>
              <a:t>A oficina precisa registrar evidência mesmo offline e sincronizar depois.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49039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39319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Extensibilidade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4805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2A"/>
                </a:solidFill>
                <a:latin typeface="Calibri"/>
              </a:rPr>
              <a:t>Novos consumers (billing, relatório, seguradora) devem entrar sem mexer no núcleo.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Planta da oficina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Onde ficam câmeras, terminais e o gateway local</a:t>
            </a:r>
          </a:p>
        </p:txBody>
      </p:sp>
      <p:pic>
        <p:nvPicPr>
          <p:cNvPr id="9" name="Picture 8" descr="planta_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815678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4 galpões com câmera IP + tablet • almoxarifado • recepção • sala técnica com gateway, NAS e mini-broker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Modelo C4 — Nível 1: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Atores e sistemas externos</a:t>
            </a:r>
          </a:p>
        </p:txBody>
      </p:sp>
      <p:pic>
        <p:nvPicPr>
          <p:cNvPr id="9" name="Picture 8" descr="c4_nivel1_con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541443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5 atores • integração com câmeras, storage, gateways, ERP, pagamento, NF-e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Modelo C4 — Nível 2: Containers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Zona de borda (oficina) + zona de nuvem</a:t>
            </a:r>
          </a:p>
        </p:txBody>
      </p:sp>
      <p:pic>
        <p:nvPicPr>
          <p:cNvPr id="9" name="Picture 8" descr="c4_nivel2_cont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112000" cy="5120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Edge: gateway, NAS, mini-broker federado    •    Cloud: API, Postgres, RabbitMQ cluster, workers,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C4 Nível 3 — Componentes do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Controllers • Services • Repositories • EventPublisher</a:t>
            </a:r>
          </a:p>
        </p:txBody>
      </p:sp>
      <p:pic>
        <p:nvPicPr>
          <p:cNvPr id="9" name="Picture 8" descr="c4_nivel3_compon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434686" cy="5120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EventPublisher é o ponto único de saída para o broker — substituir middleware afeta só essa classe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Topologia RabbitMQ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5 exchanges • ~12 filas • ~25 routing keys planejadas</a:t>
            </a:r>
          </a:p>
        </p:txBody>
      </p:sp>
      <p:pic>
        <p:nvPicPr>
          <p:cNvPr id="9" name="Picture 8" descr="rabbitmq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120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Topic + Fanout + Direct + Headers + DLX  • patrões Pub/Sub, Work Queue, Topic Routing, Headers, DLX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Cinco exchanges, cinco padrões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Cada tipo de AMQP cobre um caso de uso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377440" cy="777240"/>
          </a:xfrm>
          <a:prstGeom prst="round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oficina.events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64592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A"/>
                </a:solidFill>
                <a:latin typeface="Calibri"/>
              </a:rPr>
              <a:t>Hub principal — routing key dominio.entidade.acao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77440"/>
            <a:ext cx="2377440" cy="777240"/>
          </a:xfrm>
          <a:prstGeom prst="round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oficina.broadcast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Fanout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56032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A"/>
                </a:solidFill>
                <a:latin typeface="Calibri"/>
              </a:rPr>
              <a:t>Avisos globais (manutenção da plataforma, alarmes)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2377440" cy="77724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oficina.commands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Direct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7472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A"/>
                </a:solidFill>
                <a:latin typeface="Calibri"/>
              </a:rPr>
              <a:t>Comandos diretos para um worker específico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2377440" cy="777240"/>
          </a:xfrm>
          <a:prstGeom prst="round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oficina.notifications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38912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A"/>
                </a:solidFill>
                <a:latin typeface="Calibri"/>
              </a:rPr>
              <a:t>Roteia notificação por canal (email/sms/whatsapp)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2377440" cy="77724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oficina.dlx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321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DLX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30352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A"/>
                </a:solidFill>
                <a:latin typeface="Calibri"/>
              </a:rPr>
              <a:t>Dead Letter — mensagens com falha para inspeção/retry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Máquina de estados das etapas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12 estados, transições validadas, evento por transição</a:t>
            </a:r>
          </a:p>
        </p:txBody>
      </p:sp>
      <p:pic>
        <p:nvPicPr>
          <p:cNvPr id="9" name="Picture 8" descr="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005840"/>
            <a:ext cx="6475571" cy="5394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Cada transição publica maintenance.step.updated no Topic Exchange oficina.events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Fluxo 1 — Upload de mídia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Resposta síncrona rápida • processamento assíncrono</a:t>
            </a:r>
          </a:p>
        </p:txBody>
      </p:sp>
      <p:pic>
        <p:nvPicPr>
          <p:cNvPr id="9" name="Picture 8" descr="sequence_mi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98480" cy="66330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Backend responde em &lt;100ms • media-worker processa em ~2s • cliente vê quando media.processed chega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Fluxo 2 — Mudança de etapa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Uma chamada → cascata de workers em paralelo</a:t>
            </a:r>
          </a:p>
        </p:txBody>
      </p:sp>
      <p:pic>
        <p:nvPicPr>
          <p:cNvPr id="9" name="Picture 8" descr="sequence_et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76480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notification-worker e audit-worker reagem ao mesmo evento • inventory ignora • cliente vê notificação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Implantação híbrida edge +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Resiliência operacional como decisão arquitetural</a:t>
            </a:r>
          </a:p>
        </p:txBody>
      </p:sp>
      <p:pic>
        <p:nvPicPr>
          <p:cNvPr id="9" name="Picture 8" descr="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98480" cy="7488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K8s na nuvem (HPA por worker) • gateway na oficina (NAS, mini-broker federado) • funciona offline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Stack do protótipo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Tudo conteinerizado, sobe com um único comando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137160" cy="1920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6304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A"/>
                </a:solidFill>
                <a:latin typeface="Calibri"/>
              </a:rPr>
              <a:t>Next.js 14 + React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137160" cy="1920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46304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737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7293"/>
                </a:solidFill>
                <a:latin typeface="Calibr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3317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A"/>
                </a:solidFill>
                <a:latin typeface="Calibri"/>
              </a:rPr>
              <a:t>Node.js 20 + Express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463040"/>
            <a:ext cx="137160" cy="1920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146304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737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1295C"/>
                </a:solidFill>
                <a:latin typeface="Calibri"/>
              </a:rPr>
              <a:t>Broker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3317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A"/>
                </a:solidFill>
                <a:latin typeface="Calibri"/>
              </a:rPr>
              <a:t>RabbitMQ 3 (management UI)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137160" cy="1920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65760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Banco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A"/>
                </a:solidFill>
                <a:latin typeface="Calibri"/>
              </a:rPr>
              <a:t>PostgreSQL 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657600"/>
            <a:ext cx="137160" cy="1920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3931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7293"/>
                </a:solidFill>
                <a:latin typeface="Calibri"/>
              </a:rPr>
              <a:t>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52628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A"/>
                </a:solidFill>
                <a:latin typeface="Calibri"/>
              </a:rPr>
              <a:t>4× Node + amqplib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657600"/>
            <a:ext cx="137160" cy="1920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58200" y="365760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3931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1295C"/>
                </a:solidFill>
                <a:latin typeface="Calibri"/>
              </a:rPr>
              <a:t>Orquestração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52628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A"/>
                </a:solidFill>
                <a:latin typeface="Calibri"/>
              </a:rPr>
              <a:t>Docker Compose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$ docker compose up --build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que o protótipo demonstra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Fatia mínima viável da arquitetura completa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Implementado no código: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5 exchanges (Topic, Fanout, Direct, Headers, DLX)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Filas com bindings por routing key, # e *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Máquina de estados de 12 etapas, transições validadas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Upload de mídia + processamento assíncrono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Rastreio de peças (request → reserve → install)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Notificações personalizadas para stakeholders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Trilha de auditoria com binding universal #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Frontend autenticado por papel (4 perfis)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Defendido na apresentação: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Arquitetura edge-cloud com mini-broker federado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Gateway local com NAS para vídeos brutos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Cluster RabbitMQ com quorum queues em K8s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HPA por worker, observabilidade Prometheus/Grafana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Integração real com email/SMS/WhatsApp (Headers)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Storage S3/R2 para vídeos definitivos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Report worker, billing worker, NF-e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Push em tempo real via WebSocket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Cenários executados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Quatro fluxos end-to-end com a stack levantada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37160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63040"/>
            <a:ext cx="1097280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C1 — Mudança de etapa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A"/>
                </a:solidFill>
                <a:latin typeface="Calibri"/>
              </a:rPr>
              <a:t>Backend → maintenance.step.updated → notification + audit +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C7293"/>
                </a:solidFill>
                <a:latin typeface="Calibri"/>
              </a:rPr>
              <a:t>&lt;500 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137160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606040"/>
            <a:ext cx="1097280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97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C2 — Upload de mídia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A"/>
                </a:solidFill>
                <a:latin typeface="Calibri"/>
              </a:rPr>
              <a:t>3 arquivos → media.uploaded → worker → media.processed → notif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880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C7293"/>
                </a:solidFill>
                <a:latin typeface="Calibri"/>
              </a:rPr>
              <a:t>~7 s p/ 3 arquivos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137160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749040"/>
            <a:ext cx="1097280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40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C3 — Solicitação de peça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062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A"/>
                </a:solidFill>
                <a:latin typeface="Calibri"/>
              </a:rPr>
              <a:t>parts.requested → inventory-worker → reserve → parts.reserved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023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C7293"/>
                </a:solidFill>
                <a:latin typeface="Calibri"/>
              </a:rPr>
              <a:t>~1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137160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892040"/>
            <a:ext cx="1097280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83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C4 — Auditoria universal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492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A"/>
                </a:solidFill>
                <a:latin typeface="Calibri"/>
              </a:rPr>
              <a:t>audit-worker assina '#' → 11 eventos capturados nos cenários 1+2+3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166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C7293"/>
                </a:solidFill>
                <a:latin typeface="Calibri"/>
              </a:rPr>
              <a:t>100% cobertura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Limitações e trabalhos futuros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O que o protótipo não cobre — e como evoluir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Limitações conhecidas: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Sessão em memória (impede escala do backend)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Processamento de mídia é simulado (sem FFmpeg)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Edge gateway só na apresentação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Sem WebSocket — cliente faz polling manual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Sem integração real com email/SMS/WhatsApp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Sem upload para S3/R2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Trabalhos futuros: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1A2A"/>
                </a:solidFill>
                <a:latin typeface="Calibri"/>
              </a:rPr>
              <a:t>•  Implementar edge gateway com federation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2A"/>
                </a:solidFill>
                <a:latin typeface="Calibri"/>
              </a:rPr>
              <a:t>•  Quorum queues no broker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2A"/>
                </a:solidFill>
                <a:latin typeface="Calibri"/>
              </a:rPr>
              <a:t>•  Push em tempo real via WebSocket / SSE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2A"/>
                </a:solidFill>
                <a:latin typeface="Calibri"/>
              </a:rPr>
              <a:t>•  Integração real com gateways via Headers Exchange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2A"/>
                </a:solidFill>
                <a:latin typeface="Calibri"/>
              </a:rPr>
              <a:t>•  FFmpeg para thumbnail + transcodificação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2A"/>
                </a:solidFill>
                <a:latin typeface="Calibri"/>
              </a:rPr>
              <a:t>•  Report worker (PDF da OS concluída)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2A"/>
                </a:solidFill>
                <a:latin typeface="Calibri"/>
              </a:rPr>
              <a:t>•  Prometheus + Grafana para observabilidade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2A"/>
                </a:solidFill>
                <a:latin typeface="Calibri"/>
              </a:rPr>
              <a:t>•  Integração com NF-e e billing real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Demo ao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C107"/>
                </a:solidFill>
                <a:latin typeface="Consolas"/>
              </a:rPr>
              <a:t>docker compose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frontend  http://localhost:3000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backend   http://localhost:4000/health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RabbitMQ Management  http://localhost:15672  (guest/guest)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Síntese e contribuições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O que entregamos: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Projeto completo de sistema distribuído orientado a eventos para um problema real e atual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Modelo C4 nos 4 níveis + planta + máquina de estados + 2 sequence diagrams + deployment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Protótipo funcional com 5 exchanges, 4 workers, 9 tabelas, frontend autenticado, Docker 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Lições aprendidas: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Desacoplar via broker é o que viabiliza escalar workers de forma independente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A trilha de auditoria 'de graça' pelo padrão # é uma vantagem técnica concreta do Topic Exchange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A arquitetura edge-cloud não é luxo: é o que mantém a oficina operacional durante quedas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A"/>
                </a:solidFill>
                <a:latin typeface="Calibri"/>
              </a:rPr>
              <a:t>•  Centralizar a publicação em EventPublisher isola a decisão de middleware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C107"/>
                </a:solidFill>
                <a:latin typeface="Calibri"/>
              </a:rP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7293"/>
                </a:solidFill>
                <a:latin typeface="Consolas"/>
              </a:rPr>
              <a:t>github.com/&lt;usuario&gt;/projeto-final-sd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XRSC09 — Sistemas Distribuídos  •  Grupo XX  •  Projeto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565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